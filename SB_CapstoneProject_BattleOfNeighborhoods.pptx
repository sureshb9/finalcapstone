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7" r:id="rId2"/>
    <p:sldId id="270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6" r:id="rId17"/>
    <p:sldId id="30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CB477-1286-48AA-9F01-6241044444FB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EAF5D-7829-40A1-B4AF-A8C2C491F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41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FEBC34EC-8302-45A6-AAE4-A9FDDCC7BC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AD0941E9-C61F-422F-8BDE-FE09E22741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65EDB6F9-9323-43C4-B137-03F105935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68BC109-FAF3-4B91-9ACA-BDFF023928DA}" type="slidenum">
              <a:rPr lang="en-IN" altLang="en-US"/>
              <a:pPr/>
              <a:t>17</a:t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F6CE-52B6-4F47-BD31-3FF4C5A7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834" y="1962408"/>
            <a:ext cx="8007532" cy="217054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Project: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Battle of Neighborhoods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ED99B-7C24-9B42-B8D9-F68D83725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834" y="3356327"/>
            <a:ext cx="6400800" cy="177030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		-- Suresh </a:t>
            </a:r>
          </a:p>
        </p:txBody>
      </p:sp>
    </p:spTree>
    <p:extLst>
      <p:ext uri="{BB962C8B-B14F-4D97-AF65-F5344CB8AC3E}">
        <p14:creationId xmlns:p14="http://schemas.microsoft.com/office/powerpoint/2010/main" val="57832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E6DE-6808-4639-875E-65015C39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646" y="685800"/>
            <a:ext cx="8534400" cy="1507067"/>
          </a:xfrm>
        </p:spPr>
        <p:txBody>
          <a:bodyPr/>
          <a:lstStyle/>
          <a:p>
            <a:r>
              <a:rPr lang="en-US" dirty="0"/>
              <a:t>Project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06B5A-3C1F-494D-AFEA-FBB038D07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645" y="2192867"/>
            <a:ext cx="9596257" cy="304376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Analysis of neighborhoods in Scarborough ( Toronto ) based on the distribution of various facilities in and around the neighborhood to help the new Neighbors to take a better decision on choosing the best neighborhood out of Scarborough.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76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4861-8E6D-8E4F-BA67-0CBCB838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835" y="790542"/>
            <a:ext cx="8534400" cy="1507067"/>
          </a:xfrm>
        </p:spPr>
        <p:txBody>
          <a:bodyPr/>
          <a:lstStyle/>
          <a:p>
            <a:r>
              <a:rPr lang="en-US" dirty="0"/>
              <a:t>Objective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1B3FC-CD60-F04E-8AAB-70890CA9A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36" y="1848393"/>
            <a:ext cx="9374189" cy="361526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The main purpose of this project is to help new neighbors to explore the various neighborhoods before actually move in to any neighborhood.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99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4861-8E6D-8E4F-BA67-0CBCB838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647" y="542349"/>
            <a:ext cx="8534400" cy="1507067"/>
          </a:xfrm>
        </p:spPr>
        <p:txBody>
          <a:bodyPr/>
          <a:lstStyle/>
          <a:p>
            <a:r>
              <a:rPr lang="en-US" dirty="0"/>
              <a:t>Data and METHODOLOGY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1B3FC-CD60-F04E-8AAB-70890CA9A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7" y="1737361"/>
            <a:ext cx="9104812" cy="405287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Wikipedia page,                https://en.wikipedia.org/wiki/List_of_postal_codes_of_Canada:_M, has been used in order to obtain the neighborhood data along with postal codes and transformed the data into a pandas </a:t>
            </a:r>
            <a:r>
              <a:rPr lang="en-US" dirty="0" err="1">
                <a:solidFill>
                  <a:schemeClr val="tx1"/>
                </a:solidFill>
              </a:rPr>
              <a:t>dataframe</a:t>
            </a:r>
            <a:r>
              <a:rPr lang="en-US" dirty="0">
                <a:solidFill>
                  <a:schemeClr val="tx1"/>
                </a:solidFill>
              </a:rPr>
              <a:t> by using </a:t>
            </a:r>
            <a:r>
              <a:rPr lang="en-US" dirty="0" err="1">
                <a:solidFill>
                  <a:schemeClr val="tx1"/>
                </a:solidFill>
              </a:rPr>
              <a:t>BeatifulSoup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Pacakge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Forming neighborhood clusters based on venue categories using unsupervised k-mean clustering algorithm(sklearn)</a:t>
            </a:r>
          </a:p>
          <a:p>
            <a:r>
              <a:rPr lang="en-US" dirty="0">
                <a:solidFill>
                  <a:schemeClr val="tx1"/>
                </a:solidFill>
              </a:rPr>
              <a:t>Identifying and understanding the similarities and dissimilarities between two chosen neighborhoods to retrieve more insights and to conclude with ease which neighborhood wins over other.</a:t>
            </a:r>
          </a:p>
        </p:txBody>
      </p:sp>
    </p:spTree>
    <p:extLst>
      <p:ext uri="{BB962C8B-B14F-4D97-AF65-F5344CB8AC3E}">
        <p14:creationId xmlns:p14="http://schemas.microsoft.com/office/powerpoint/2010/main" val="1570336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B6C0-8EE5-EE44-B1D5-F73162EE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37" y="628710"/>
            <a:ext cx="10131834" cy="1507067"/>
          </a:xfrm>
        </p:spPr>
        <p:txBody>
          <a:bodyPr>
            <a:normAutofit/>
          </a:bodyPr>
          <a:lstStyle/>
          <a:p>
            <a:r>
              <a:rPr lang="en-US" dirty="0"/>
              <a:t>Python packages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23791-7B28-5644-A505-D55A068F8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29" y="1965960"/>
            <a:ext cx="8534400" cy="4460966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Pandas 		-	Library for Data Analysis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NumPy 		– 	Library to handle data in a vectorized manner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JSON 		– 	Library to handle JSON files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Geopy		– 	To retrieve Location Data 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Requests	– 	Library to handle http requests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Matplotlib	– 	Python Plotting Module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Sklearn	 	– 	Python machine learning Library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Folium 		– 	Map rendering Library</a:t>
            </a:r>
          </a:p>
        </p:txBody>
      </p:sp>
    </p:spTree>
    <p:extLst>
      <p:ext uri="{BB962C8B-B14F-4D97-AF65-F5344CB8AC3E}">
        <p14:creationId xmlns:p14="http://schemas.microsoft.com/office/powerpoint/2010/main" val="243059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B1BFC-7DFB-8644-8D62-B527BDF6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32" y="281581"/>
            <a:ext cx="8534400" cy="1507067"/>
          </a:xfrm>
        </p:spPr>
        <p:txBody>
          <a:bodyPr/>
          <a:lstStyle/>
          <a:p>
            <a:r>
              <a:rPr lang="en-US" dirty="0"/>
              <a:t>Neighborhood distribution – folium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95BB33-90F5-A246-A6F6-E5C332029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089" y="1892336"/>
            <a:ext cx="8954428" cy="4684083"/>
          </a:xfrm>
        </p:spPr>
      </p:pic>
    </p:spTree>
    <p:extLst>
      <p:ext uri="{BB962C8B-B14F-4D97-AF65-F5344CB8AC3E}">
        <p14:creationId xmlns:p14="http://schemas.microsoft.com/office/powerpoint/2010/main" val="297278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43D8-2A02-614A-9274-7CDD201F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25" y="196686"/>
            <a:ext cx="8534400" cy="1507067"/>
          </a:xfrm>
        </p:spPr>
        <p:txBody>
          <a:bodyPr/>
          <a:lstStyle/>
          <a:p>
            <a:r>
              <a:rPr lang="en-US" dirty="0"/>
              <a:t>		Neighborhood clusters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9903EC-2281-4CB3-B60C-2DEAB07C2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58" y="1879502"/>
            <a:ext cx="88773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2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3B93-B362-ED49-A388-F690569C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94" y="421060"/>
            <a:ext cx="8534400" cy="1507067"/>
          </a:xfrm>
        </p:spPr>
        <p:txBody>
          <a:bodyPr/>
          <a:lstStyle/>
          <a:p>
            <a:r>
              <a:rPr lang="en-US" dirty="0"/>
              <a:t>	Population distribution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96AB1-A2C2-4853-92C8-663DC272F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22" y="1928127"/>
            <a:ext cx="9270244" cy="39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5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E874-F5A2-0C43-84D9-F16F98D0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61" y="217083"/>
            <a:ext cx="8534400" cy="1507067"/>
          </a:xfrm>
        </p:spPr>
        <p:txBody>
          <a:bodyPr/>
          <a:lstStyle/>
          <a:p>
            <a:r>
              <a:rPr lang="en-US" dirty="0"/>
              <a:t>		School ratings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633DB-6290-4695-A4F4-CC974785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507" y="1724150"/>
            <a:ext cx="5194422" cy="501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4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BE720-8E7E-8649-B7AA-F58A1588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3" y="216733"/>
            <a:ext cx="8276075" cy="1507067"/>
          </a:xfrm>
          <a:effectLst>
            <a:glow rad="698500">
              <a:schemeClr val="accent1"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	   Average housing prices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EA4DE-F60C-4FB6-B026-46AF9346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455" y="1507066"/>
            <a:ext cx="5378182" cy="513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8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E1D6-4C89-8641-A3C9-25D2E111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37" y="448451"/>
            <a:ext cx="9866557" cy="1507067"/>
          </a:xfrm>
        </p:spPr>
        <p:txBody>
          <a:bodyPr>
            <a:normAutofit/>
          </a:bodyPr>
          <a:lstStyle/>
          <a:p>
            <a:r>
              <a:rPr lang="en-US" dirty="0"/>
              <a:t>Comparison between Neighborhoods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DC5C-374A-EE48-AE11-2D0B281FC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791" y="1692927"/>
            <a:ext cx="9664503" cy="4004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K-mean clustering unsupervised machine learning algorithm has been used to cluster the neighborhoods.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Agincourt, </a:t>
            </a:r>
            <a:r>
              <a:rPr lang="en-US" dirty="0" err="1">
                <a:solidFill>
                  <a:schemeClr val="tx1"/>
                </a:solidFill>
              </a:rPr>
              <a:t>Cedarbraeto</a:t>
            </a:r>
            <a:r>
              <a:rPr lang="en-US" dirty="0">
                <a:solidFill>
                  <a:schemeClr val="tx1"/>
                </a:solidFill>
              </a:rPr>
              <a:t> are compared on the following parameters*: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1. More Indian Population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2. Higher School Rating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3. Reasonable Housing Price in the Range of 150k to 500k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4. Comfortable Neighborhoods.</a:t>
            </a:r>
          </a:p>
        </p:txBody>
      </p:sp>
    </p:spTree>
    <p:extLst>
      <p:ext uri="{BB962C8B-B14F-4D97-AF65-F5344CB8AC3E}">
        <p14:creationId xmlns:p14="http://schemas.microsoft.com/office/powerpoint/2010/main" val="2434397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8217-0488-EE4F-B9C8-277F0B8A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23" y="383428"/>
            <a:ext cx="9905998" cy="1478570"/>
          </a:xfrm>
        </p:spPr>
        <p:txBody>
          <a:bodyPr/>
          <a:lstStyle/>
          <a:p>
            <a:r>
              <a:rPr lang="en-US" dirty="0"/>
              <a:t>Neighborhood Venues: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9A4A1-1210-4763-AD5E-48832BD5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1" y="1861484"/>
            <a:ext cx="6752492" cy="461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87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F646-A75F-A34C-B3DB-9E1C3FDBB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16" y="450908"/>
            <a:ext cx="8534400" cy="1507067"/>
          </a:xfrm>
        </p:spPr>
        <p:txBody>
          <a:bodyPr/>
          <a:lstStyle/>
          <a:p>
            <a:r>
              <a:rPr lang="en-US" dirty="0"/>
              <a:t>Ethnic Population distribution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E51B3-7EE9-43A2-8290-285D6EEB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529" y="1957975"/>
            <a:ext cx="5978770" cy="461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2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A4C2-EAC6-3B4D-A698-2CB572BB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57" y="522953"/>
            <a:ext cx="8534400" cy="1507067"/>
          </a:xfrm>
        </p:spPr>
        <p:txBody>
          <a:bodyPr/>
          <a:lstStyle/>
          <a:p>
            <a:r>
              <a:rPr lang="en-US" dirty="0"/>
              <a:t>	School ratings: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97632-F2E1-49E1-A49C-2BCE88A1B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83" y="1934631"/>
            <a:ext cx="5746348" cy="457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50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94A9-6B65-BC4F-A901-2E2802B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" y="351693"/>
            <a:ext cx="8534400" cy="1507067"/>
          </a:xfrm>
        </p:spPr>
        <p:txBody>
          <a:bodyPr/>
          <a:lstStyle/>
          <a:p>
            <a:r>
              <a:rPr lang="en-US" dirty="0"/>
              <a:t>	Average housing price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5F75D9-3E32-4860-97DD-AE578790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73" y="2252662"/>
            <a:ext cx="6404390" cy="428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57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94A9-6B65-BC4F-A901-2E2802B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" y="351693"/>
            <a:ext cx="8534400" cy="1507067"/>
          </a:xfrm>
        </p:spPr>
        <p:txBody>
          <a:bodyPr/>
          <a:lstStyle/>
          <a:p>
            <a:r>
              <a:rPr lang="en-US" dirty="0"/>
              <a:t>	Discussion and Conclusion 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815A65-A906-4124-ADBD-9A89FB43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89" y="1858760"/>
            <a:ext cx="8534400" cy="36152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This Analysis concludes that compared to Agincourt, </a:t>
            </a:r>
            <a:r>
              <a:rPr lang="en-US" dirty="0" err="1">
                <a:solidFill>
                  <a:schemeClr val="tx1"/>
                </a:solidFill>
              </a:rPr>
              <a:t>Cedarbrae</a:t>
            </a:r>
            <a:r>
              <a:rPr lang="en-US" dirty="0">
                <a:solidFill>
                  <a:schemeClr val="tx1"/>
                </a:solidFill>
              </a:rPr>
              <a:t> has the higher number of Indian population, good school rating of 9 and a reasonable avg housing price of around 360K ,also top 10 common venues shows </a:t>
            </a:r>
            <a:r>
              <a:rPr lang="en-US" dirty="0" err="1">
                <a:solidFill>
                  <a:schemeClr val="tx1"/>
                </a:solidFill>
              </a:rPr>
              <a:t>Cedarbrae</a:t>
            </a:r>
            <a:r>
              <a:rPr lang="en-US" dirty="0">
                <a:solidFill>
                  <a:schemeClr val="tx1"/>
                </a:solidFill>
              </a:rPr>
              <a:t> has got a good neighborhood with Indian Restaurant, Cafe Shop, Bakery Shop, Hakka Restaurant etc.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Hence </a:t>
            </a:r>
            <a:r>
              <a:rPr lang="en-US" dirty="0" err="1">
                <a:solidFill>
                  <a:schemeClr val="tx1"/>
                </a:solidFill>
              </a:rPr>
              <a:t>Cedarbrae</a:t>
            </a:r>
            <a:r>
              <a:rPr lang="en-US" dirty="0">
                <a:solidFill>
                  <a:schemeClr val="tx1"/>
                </a:solidFill>
              </a:rPr>
              <a:t> wins over Agincourt!</a:t>
            </a:r>
          </a:p>
        </p:txBody>
      </p:sp>
    </p:spTree>
    <p:extLst>
      <p:ext uri="{BB962C8B-B14F-4D97-AF65-F5344CB8AC3E}">
        <p14:creationId xmlns:p14="http://schemas.microsoft.com/office/powerpoint/2010/main" val="3729669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0" descr="MPj04277090000[1]">
            <a:extLst>
              <a:ext uri="{FF2B5EF4-FFF2-40B4-BE49-F238E27FC236}">
                <a16:creationId xmlns:a16="http://schemas.microsoft.com/office/drawing/2014/main" id="{54375C62-AADD-4334-A710-28F5D8817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38" y="1534300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Box 1">
            <a:extLst>
              <a:ext uri="{FF2B5EF4-FFF2-40B4-BE49-F238E27FC236}">
                <a16:creationId xmlns:a16="http://schemas.microsoft.com/office/drawing/2014/main" id="{7F703C7A-51C1-4CF4-8698-BAE767ABB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2701112"/>
            <a:ext cx="4953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8000" dirty="0">
                <a:latin typeface="Andalus" panose="02020603050405020304" pitchFamily="18" charset="-78"/>
                <a:cs typeface="Andalus" panose="02020603050405020304" pitchFamily="18" charset="-78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899</TotalTime>
  <Words>307</Words>
  <Application>Microsoft Office PowerPoint</Application>
  <PresentationFormat>Widescreen</PresentationFormat>
  <Paragraphs>42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Andalus</vt:lpstr>
      <vt:lpstr>Arial</vt:lpstr>
      <vt:lpstr>Calibri</vt:lpstr>
      <vt:lpstr>Century Gothic</vt:lpstr>
      <vt:lpstr>Wingdings 3</vt:lpstr>
      <vt:lpstr>Slice</vt:lpstr>
      <vt:lpstr>Capstone Project:  Battle of Neighborhoods  </vt:lpstr>
      <vt:lpstr>Project Description:</vt:lpstr>
      <vt:lpstr>Objective :</vt:lpstr>
      <vt:lpstr>Data and METHODOLOGY :</vt:lpstr>
      <vt:lpstr>Python packages :</vt:lpstr>
      <vt:lpstr>Neighborhood distribution – folium map</vt:lpstr>
      <vt:lpstr>  Neighborhood clusters :</vt:lpstr>
      <vt:lpstr> Population distribution :</vt:lpstr>
      <vt:lpstr>  School ratings :</vt:lpstr>
      <vt:lpstr>    Average housing prices :</vt:lpstr>
      <vt:lpstr>Comparison between Neighborhoods :</vt:lpstr>
      <vt:lpstr>Neighborhood Venues:</vt:lpstr>
      <vt:lpstr>Ethnic Population distribution :</vt:lpstr>
      <vt:lpstr> School ratings: </vt:lpstr>
      <vt:lpstr> Average housing price :</vt:lpstr>
      <vt:lpstr> Discussion and 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Project:  Battle of Neighborhoods  </dc:title>
  <dc:creator>02849J</dc:creator>
  <cp:lastModifiedBy>02849J</cp:lastModifiedBy>
  <cp:revision>17</cp:revision>
  <dcterms:created xsi:type="dcterms:W3CDTF">2018-10-25T14:35:38Z</dcterms:created>
  <dcterms:modified xsi:type="dcterms:W3CDTF">2018-10-26T05:34:39Z</dcterms:modified>
</cp:coreProperties>
</file>